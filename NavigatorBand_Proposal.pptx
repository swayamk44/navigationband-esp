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8" r:id="rId7"/>
    <p:sldId id="271" r:id="rId8"/>
    <p:sldId id="269" r:id="rId9"/>
    <p:sldId id="270" r:id="rId10"/>
    <p:sldId id="260" r:id="rId11"/>
    <p:sldId id="262" r:id="rId12"/>
    <p:sldId id="261" r:id="rId13"/>
    <p:sldId id="263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6885432" cy="6858000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0" y="2697480"/>
            <a:ext cx="3200400" cy="1463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DCAA5"/>
                </a:solidFill>
                <a:latin typeface="Calibri"/>
              </a:rPr>
              <a:t>WEARABLE ASSISTIVE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5DCAA5"/>
                </a:solidFill>
                <a:latin typeface="Calibri"/>
              </a:rPr>
              <a:t>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DCAA5"/>
                </a:solidFill>
                <a:latin typeface="Calibri"/>
              </a:rPr>
              <a:t>ESP32-S3  ·  I2C  ·  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CAA5"/>
                </a:solidFill>
                <a:latin typeface="Calibri"/>
              </a:rPr>
              <a:t>VLS 603  —  ELECTRONIC SYSTEMS PACKAGING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Navigator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FE1CB"/>
                </a:solidFill>
                <a:latin typeface="Calibri"/>
              </a:rPr>
              <a:t>Haptic Obstacle Guidance for the Visually Impaired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37560"/>
            <a:ext cx="594360" cy="64008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566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88780"/>
                </a:solidFill>
                <a:latin typeface="Calibri"/>
              </a:rPr>
              <a:t>Swayam Kotecha   |   ESP32-S3 · 4 Sensors · Dual Haptic Motors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44441"/>
                </a:solidFill>
                <a:latin typeface="Calibri"/>
              </a:rPr>
              <a:t>SLIDE 1 / 8</a:t>
            </a:r>
          </a:p>
        </p:txBody>
      </p:sp>
      <p:sp>
        <p:nvSpPr>
          <p:cNvPr id="15" name="AutoShape 2" descr="Do You Know Everything of Wearable PCBs? - Jarnistech">
            <a:extLst>
              <a:ext uri="{FF2B5EF4-FFF2-40B4-BE49-F238E27FC236}">
                <a16:creationId xmlns:a16="http://schemas.microsoft.com/office/drawing/2014/main" id="{6FB7C95B-3123-C643-C5CE-23E249A5E6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6" descr="Do You Know Everything of Wearable PCBs? - Jarnistech">
            <a:extLst>
              <a:ext uri="{FF2B5EF4-FFF2-40B4-BE49-F238E27FC236}">
                <a16:creationId xmlns:a16="http://schemas.microsoft.com/office/drawing/2014/main" id="{307C178A-F06F-A5CB-13C2-FB4555A974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4413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E85C7CA-05B6-8A39-63F5-9A15987E2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21" y="4206240"/>
            <a:ext cx="4320271" cy="23932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7D92DD5-0793-ABA4-C1C3-2EB7B7360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738" y="2697480"/>
            <a:ext cx="3620005" cy="15718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F6E56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2C2A"/>
                </a:solidFill>
                <a:latin typeface="Calibri"/>
              </a:rPr>
              <a:t>253 million visually impaired people worldwide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5303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8483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780"/>
                </a:solidFill>
                <a:latin typeface="Calibri"/>
              </a:rPr>
              <a:t>CURRENT SOLUTIONS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487168"/>
            <a:ext cx="164592" cy="320040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4871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A"/>
                </a:solidFill>
                <a:latin typeface="Calibri"/>
              </a:rPr>
              <a:t>White cane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24871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780"/>
                </a:solidFill>
                <a:latin typeface="Calibri"/>
              </a:rPr>
              <a:t>no real-time obstacle alerts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035808"/>
            <a:ext cx="164592" cy="320040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30358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A"/>
                </a:solidFill>
                <a:latin typeface="Calibri"/>
              </a:rPr>
              <a:t>Phone 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30358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780"/>
                </a:solidFill>
                <a:latin typeface="Calibri"/>
              </a:rPr>
              <a:t>phone must stay out of pocket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584448"/>
            <a:ext cx="164592" cy="320040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35844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A"/>
                </a:solidFill>
                <a:latin typeface="Calibri"/>
              </a:rPr>
              <a:t>Chest 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3584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780"/>
                </a:solidFill>
                <a:latin typeface="Calibri"/>
              </a:rPr>
              <a:t>bulky, socially very visible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920240"/>
            <a:ext cx="5303520" cy="2560320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208483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6E56"/>
                </a:solidFill>
                <a:latin typeface="Calibri"/>
              </a:rPr>
              <a:t>OUR SOLUTION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487168"/>
            <a:ext cx="164592" cy="320040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39712" y="24871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5041"/>
                </a:solidFill>
                <a:latin typeface="Calibri"/>
              </a:rPr>
              <a:t>Wristband form factor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4816" y="24871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6E56"/>
                </a:solidFill>
                <a:latin typeface="Calibri"/>
              </a:rPr>
              <a:t>socially invisible, always with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035808"/>
            <a:ext cx="164592" cy="320040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9712" y="30358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5041"/>
                </a:solidFill>
                <a:latin typeface="Calibri"/>
              </a:rPr>
              <a:t>Haptic + audio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4816" y="30358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6E56"/>
                </a:solidFill>
                <a:latin typeface="Calibri"/>
              </a:rPr>
              <a:t>no visual needed, phone stays pocketed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584448"/>
            <a:ext cx="164592" cy="320040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39712" y="3584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5041"/>
                </a:solidFill>
                <a:latin typeface="Calibri"/>
              </a:rPr>
              <a:t>Fully self-contained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35844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6E56"/>
                </a:solidFill>
                <a:latin typeface="Calibri"/>
              </a:rPr>
              <a:t>no phone, no app, no internet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17352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780"/>
                </a:solidFill>
                <a:latin typeface="Calibri"/>
              </a:rPr>
              <a:t>SLIDE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DCAA5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Four functional blocks on one PCB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697480" cy="4892040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697480" cy="64008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57276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CAA5"/>
                </a:solidFill>
                <a:latin typeface="Calibri"/>
              </a:rPr>
              <a:t>POWER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0116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E1CB"/>
                </a:solidFill>
                <a:latin typeface="Calibri"/>
              </a:rPr>
              <a:t>USB-C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67004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E1CB"/>
                </a:solidFill>
                <a:latin typeface="Calibri"/>
              </a:rPr>
              <a:t>MCP73831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332841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E1CB"/>
                </a:solidFill>
                <a:latin typeface="Calibri"/>
              </a:rPr>
              <a:t>XC6206 LDO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98678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E1CB"/>
                </a:solidFill>
                <a:latin typeface="Calibri"/>
              </a:rPr>
              <a:t>LiPo 400mAh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464515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E1CB"/>
                </a:solidFill>
                <a:latin typeface="Calibri"/>
              </a:rPr>
              <a:t>3.3V rail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2968" y="1417320"/>
            <a:ext cx="2697480" cy="4892040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72968" y="1417320"/>
            <a:ext cx="2697480" cy="64008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7560" y="157276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9F27"/>
                </a:solidFill>
                <a:latin typeface="Calibri"/>
              </a:rPr>
              <a:t>MCU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0116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AC775"/>
                </a:solidFill>
                <a:latin typeface="Calibri"/>
              </a:rPr>
              <a:t>ESP32-S3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67004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AC775"/>
                </a:solidFill>
                <a:latin typeface="Calibri"/>
              </a:rPr>
              <a:t>BLE 5.0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32841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AC775"/>
                </a:solidFill>
                <a:latin typeface="Calibri"/>
              </a:rPr>
              <a:t>I2C Master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98678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AC775"/>
                </a:solidFill>
                <a:latin typeface="Calibri"/>
              </a:rPr>
              <a:t>I2S Audio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64515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AC775"/>
                </a:solidFill>
                <a:latin typeface="Calibri"/>
              </a:rPr>
              <a:t>3.3V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5896" y="1417320"/>
            <a:ext cx="2697480" cy="4892040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25896" y="1417320"/>
            <a:ext cx="2697480" cy="64008"/>
          </a:xfrm>
          <a:prstGeom prst="rect">
            <a:avLst/>
          </a:prstGeom>
          <a:solidFill>
            <a:srgbClr val="F0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90488" y="157276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09595"/>
                </a:solidFill>
                <a:latin typeface="Calibri"/>
              </a:rPr>
              <a:t>SENSOR 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0116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4B3"/>
                </a:solidFill>
                <a:latin typeface="Calibri"/>
              </a:rPr>
              <a:t>VL53L1X (ToF)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267004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4B3"/>
                </a:solidFill>
                <a:latin typeface="Calibri"/>
              </a:rPr>
              <a:t>ICM-42688 (IMU)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332841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4B3"/>
                </a:solidFill>
                <a:latin typeface="Calibri"/>
              </a:rPr>
              <a:t>VEML7700 (Light)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398678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4B3"/>
                </a:solidFill>
                <a:latin typeface="Calibri"/>
              </a:rPr>
              <a:t>MAX30205 (Temp)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464515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4B3"/>
                </a:solidFill>
                <a:latin typeface="Calibri"/>
              </a:rPr>
              <a:t>I2C bus shared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1417320"/>
            <a:ext cx="2697480" cy="4892040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878824" y="1417320"/>
            <a:ext cx="2697480" cy="64008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43415" y="157276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FA9EC"/>
                </a:solidFill>
                <a:latin typeface="Calibri"/>
              </a:rPr>
              <a:t>FEEDBACK BLOCK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3415" y="2011680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ECBF6"/>
                </a:solidFill>
                <a:latin typeface="Calibri"/>
              </a:rPr>
              <a:t>DRV2605L</a:t>
            </a:r>
            <a:r>
              <a:rPr lang="en-US" sz="1200" b="0" i="0" dirty="0">
                <a:solidFill>
                  <a:srgbClr val="CECBF6"/>
                </a:solidFill>
                <a:latin typeface="Calibri"/>
              </a:rPr>
              <a:t>(Haptic)</a:t>
            </a:r>
            <a:endParaRPr sz="1200" b="0" i="0" dirty="0">
              <a:solidFill>
                <a:srgbClr val="CECBF6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043415" y="267004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ECBF6"/>
                </a:solidFill>
                <a:latin typeface="Calibri"/>
              </a:rPr>
              <a:t>2× LRA Motors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3415" y="332841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CBF6"/>
                </a:solidFill>
                <a:latin typeface="Calibri"/>
              </a:rPr>
              <a:t>MAX98357 Amp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3415" y="398678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CBF6"/>
                </a:solidFill>
                <a:latin typeface="Calibri"/>
              </a:rPr>
              <a:t>Micro Speaker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5" y="464515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CBF6"/>
                </a:solidFill>
                <a:latin typeface="Calibri"/>
              </a:rPr>
              <a:t>Haptic + Audio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17352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44441"/>
                </a:solidFill>
                <a:latin typeface="Calibri"/>
              </a:rPr>
              <a:t>SLIDE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85FA5"/>
                </a:solidFill>
                <a:latin typeface="Calibri"/>
              </a:rPr>
              <a:t>SENSOR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2C2A"/>
                </a:solidFill>
                <a:latin typeface="Calibri"/>
              </a:rPr>
              <a:t>Four sensors, four purposes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38560" cy="566928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1554480"/>
            <a:ext cx="420624" cy="420624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5727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9105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447C"/>
                </a:solidFill>
                <a:latin typeface="Calibri"/>
              </a:rPr>
              <a:t>VL53L1X  —  Time of Flight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59105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5FA5"/>
                </a:solidFill>
                <a:latin typeface="Calibri"/>
              </a:rPr>
              <a:t>Fires infrared laser 50×/sec · measures distance 0–4m · primary obstacle sensor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70048"/>
            <a:ext cx="11338560" cy="566928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2920" y="2743200"/>
            <a:ext cx="420624" cy="420624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761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79776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633806"/>
                </a:solidFill>
                <a:latin typeface="Calibri"/>
              </a:rPr>
              <a:t>MPU9250</a:t>
            </a:r>
            <a:r>
              <a:rPr sz="1100" b="1" i="0" dirty="0">
                <a:solidFill>
                  <a:srgbClr val="633806"/>
                </a:solidFill>
                <a:latin typeface="Calibri"/>
              </a:rPr>
              <a:t>  —  </a:t>
            </a:r>
            <a:r>
              <a:rPr lang="en-IN" sz="1100" b="1" i="0" dirty="0">
                <a:solidFill>
                  <a:srgbClr val="633806"/>
                </a:solidFill>
                <a:latin typeface="Calibri"/>
              </a:rPr>
              <a:t>IMU </a:t>
            </a:r>
            <a:endParaRPr sz="1100" b="1" i="0" dirty="0">
              <a:solidFill>
                <a:srgbClr val="633806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17520" y="277977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4F0B"/>
                </a:solidFill>
                <a:latin typeface="Calibri"/>
              </a:rPr>
              <a:t>Accelerometer + gyroscope · corrects ToF readings for wrist tilt · counts footsteps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858768"/>
            <a:ext cx="11338560" cy="566928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02920" y="3931920"/>
            <a:ext cx="420624" cy="420624"/>
          </a:xfrm>
          <a:prstGeom prst="ellipse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39502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96849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3404"/>
                </a:solidFill>
                <a:latin typeface="Calibri"/>
              </a:rPr>
              <a:t>VEML7700  —  Ambient 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6849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6D11"/>
                </a:solidFill>
                <a:latin typeface="Calibri"/>
              </a:rPr>
              <a:t>Measures lux level · switches polling rate indoors vs outdoors · saves battery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047488"/>
            <a:ext cx="11338560" cy="566928"/>
          </a:xfrm>
          <a:prstGeom prst="rect">
            <a:avLst/>
          </a:prstGeom>
          <a:solidFill>
            <a:srgbClr val="FB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02920" y="5120640"/>
            <a:ext cx="420624" cy="420624"/>
          </a:xfrm>
          <a:prstGeom prst="ellipse">
            <a:avLst/>
          </a:prstGeom>
          <a:solidFill>
            <a:srgbClr val="99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51389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1572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1528"/>
                </a:solidFill>
                <a:latin typeface="Calibri"/>
              </a:rPr>
              <a:t>MAX30205  —  Skin Temperature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15721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3556"/>
                </a:solidFill>
                <a:latin typeface="Calibri"/>
              </a:rPr>
              <a:t>Reads skin surface temp · detects if device is worn · triggers deep sleep when removed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17352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780"/>
                </a:solidFill>
                <a:latin typeface="Calibri"/>
              </a:rPr>
              <a:t>SLIDE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D7B6B1-111B-3B97-71BD-F5C70F4C7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98261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AC2887-E3D7-3E1D-DAAD-3E04BB85B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702" y="6322543"/>
            <a:ext cx="1047355" cy="2381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A8BEF8-D74D-4CD1-9747-92006263280E}"/>
              </a:ext>
            </a:extLst>
          </p:cNvPr>
          <p:cNvSpPr txBox="1"/>
          <p:nvPr/>
        </p:nvSpPr>
        <p:spPr>
          <a:xfrm>
            <a:off x="10123714" y="6256956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40X36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847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1C3CF8-AD77-19F2-F48C-741665BB4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64" y="332146"/>
            <a:ext cx="10964635" cy="619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56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C0FEFC-D37F-DDAB-84FD-04DD5944F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20" y="160976"/>
            <a:ext cx="4277529" cy="2900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FB3478-622F-CBDB-C81C-654640A22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102" y="160977"/>
            <a:ext cx="4277530" cy="2900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A31CFF-DD67-070C-FDF3-BE0A9391A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20" y="3126921"/>
            <a:ext cx="4277529" cy="3491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03878C-AD5D-3871-794A-054D5EC1A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0603" y="160977"/>
            <a:ext cx="2890901" cy="29006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FADFB9-FC3A-006D-A00A-ED86B674B7A5}"/>
              </a:ext>
            </a:extLst>
          </p:cNvPr>
          <p:cNvSpPr txBox="1"/>
          <p:nvPr/>
        </p:nvSpPr>
        <p:spPr>
          <a:xfrm>
            <a:off x="764884" y="2620736"/>
            <a:ext cx="157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Power </a:t>
            </a:r>
            <a:r>
              <a:rPr lang="en-US" dirty="0" err="1"/>
              <a:t>manag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49D4E5-6EE2-6E53-99EA-05B8151F5815}"/>
              </a:ext>
            </a:extLst>
          </p:cNvPr>
          <p:cNvSpPr txBox="1"/>
          <p:nvPr/>
        </p:nvSpPr>
        <p:spPr>
          <a:xfrm>
            <a:off x="582549" y="3142468"/>
            <a:ext cx="157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ESP-32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23DD2-7444-3483-4528-9B051787EB69}"/>
              </a:ext>
            </a:extLst>
          </p:cNvPr>
          <p:cNvSpPr txBox="1"/>
          <p:nvPr/>
        </p:nvSpPr>
        <p:spPr>
          <a:xfrm>
            <a:off x="6893542" y="2620736"/>
            <a:ext cx="1850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 reg(3.7-&gt;3.3)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A437AC-D001-B41C-586D-F8CB2F0DF66D}"/>
              </a:ext>
            </a:extLst>
          </p:cNvPr>
          <p:cNvSpPr txBox="1"/>
          <p:nvPr/>
        </p:nvSpPr>
        <p:spPr>
          <a:xfrm>
            <a:off x="9721002" y="2588470"/>
            <a:ext cx="157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Haptic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894F8B-A7AE-2D25-9792-868C8DEF5A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9102" y="3126921"/>
            <a:ext cx="3134162" cy="13432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5290A1E-29A0-CD39-2587-445CBB55C19E}"/>
              </a:ext>
            </a:extLst>
          </p:cNvPr>
          <p:cNvSpPr txBox="1"/>
          <p:nvPr/>
        </p:nvSpPr>
        <p:spPr>
          <a:xfrm>
            <a:off x="5707181" y="4014889"/>
            <a:ext cx="1850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 sensor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31070A-01B0-B321-B497-B6B7868ED6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9102" y="4535445"/>
            <a:ext cx="3134162" cy="208339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29509E3-E8C5-7A1D-6639-B73FAE38CDC8}"/>
              </a:ext>
            </a:extLst>
          </p:cNvPr>
          <p:cNvSpPr txBox="1"/>
          <p:nvPr/>
        </p:nvSpPr>
        <p:spPr>
          <a:xfrm>
            <a:off x="6382095" y="6249506"/>
            <a:ext cx="1850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Tof</a:t>
            </a: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1D3F777-883C-33C8-15C6-4D6F1E10D2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4789" y="3145798"/>
            <a:ext cx="3905454" cy="132433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42F320C-20B6-2F5E-C3F1-661A56551FEC}"/>
              </a:ext>
            </a:extLst>
          </p:cNvPr>
          <p:cNvSpPr txBox="1"/>
          <p:nvPr/>
        </p:nvSpPr>
        <p:spPr>
          <a:xfrm>
            <a:off x="10506053" y="3134304"/>
            <a:ext cx="157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</a:t>
            </a:r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6A90106-38B0-A840-5DBE-464452E466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4789" y="4535445"/>
            <a:ext cx="3905453" cy="218990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392E839-37D8-CF8B-78FD-846C5E6A37A3}"/>
              </a:ext>
            </a:extLst>
          </p:cNvPr>
          <p:cNvSpPr txBox="1"/>
          <p:nvPr/>
        </p:nvSpPr>
        <p:spPr>
          <a:xfrm>
            <a:off x="7958899" y="6064840"/>
            <a:ext cx="157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IMU sensor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197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6A4E77-98C1-AB9A-2487-FE4834114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04" y="323416"/>
            <a:ext cx="5792008" cy="62111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838604-DAB2-0F89-2AF1-A0D5DA6FC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3" y="323416"/>
            <a:ext cx="5792008" cy="621116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24E3AE-8DFA-B9A2-C1FD-C9C779D39432}"/>
              </a:ext>
            </a:extLst>
          </p:cNvPr>
          <p:cNvCxnSpPr>
            <a:cxnSpLocks/>
          </p:cNvCxnSpPr>
          <p:nvPr/>
        </p:nvCxnSpPr>
        <p:spPr>
          <a:xfrm>
            <a:off x="6613071" y="1123559"/>
            <a:ext cx="595994" cy="1276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A247A6C-AA9B-8DE6-3349-4E4B07116764}"/>
              </a:ext>
            </a:extLst>
          </p:cNvPr>
          <p:cNvSpPr txBox="1"/>
          <p:nvPr/>
        </p:nvSpPr>
        <p:spPr>
          <a:xfrm>
            <a:off x="6074001" y="786884"/>
            <a:ext cx="1312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Light sensor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05497B-4A0B-1B62-23B5-6B2A87EF28A8}"/>
              </a:ext>
            </a:extLst>
          </p:cNvPr>
          <p:cNvCxnSpPr>
            <a:cxnSpLocks/>
          </p:cNvCxnSpPr>
          <p:nvPr/>
        </p:nvCxnSpPr>
        <p:spPr>
          <a:xfrm>
            <a:off x="7511143" y="786884"/>
            <a:ext cx="84721" cy="9750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6AD2924-7F38-961F-7FE8-81274E629F88}"/>
              </a:ext>
            </a:extLst>
          </p:cNvPr>
          <p:cNvSpPr txBox="1"/>
          <p:nvPr/>
        </p:nvSpPr>
        <p:spPr>
          <a:xfrm>
            <a:off x="7222834" y="420665"/>
            <a:ext cx="726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IMU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251039-52FF-89A1-DBFC-7710B5F44D71}"/>
              </a:ext>
            </a:extLst>
          </p:cNvPr>
          <p:cNvSpPr txBox="1"/>
          <p:nvPr/>
        </p:nvSpPr>
        <p:spPr>
          <a:xfrm>
            <a:off x="8735786" y="1761929"/>
            <a:ext cx="955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ESP-32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E39DA9-18FF-38EE-DB11-E75E14721A15}"/>
              </a:ext>
            </a:extLst>
          </p:cNvPr>
          <p:cNvCxnSpPr>
            <a:cxnSpLocks/>
          </p:cNvCxnSpPr>
          <p:nvPr/>
        </p:nvCxnSpPr>
        <p:spPr>
          <a:xfrm flipV="1">
            <a:off x="7672647" y="6009739"/>
            <a:ext cx="276289" cy="524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E2A5637-C12B-5967-591F-D9D57D4272F7}"/>
              </a:ext>
            </a:extLst>
          </p:cNvPr>
          <p:cNvSpPr txBox="1"/>
          <p:nvPr/>
        </p:nvSpPr>
        <p:spPr>
          <a:xfrm>
            <a:off x="7294302" y="6437335"/>
            <a:ext cx="1637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Haptic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5F2938-0AC0-E170-4AB7-170A35BC65B3}"/>
              </a:ext>
            </a:extLst>
          </p:cNvPr>
          <p:cNvCxnSpPr>
            <a:cxnSpLocks/>
          </p:cNvCxnSpPr>
          <p:nvPr/>
        </p:nvCxnSpPr>
        <p:spPr>
          <a:xfrm flipV="1">
            <a:off x="8852272" y="5997650"/>
            <a:ext cx="276289" cy="524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AE07438-B501-8FAC-2190-2054401C20AE}"/>
              </a:ext>
            </a:extLst>
          </p:cNvPr>
          <p:cNvSpPr txBox="1"/>
          <p:nvPr/>
        </p:nvSpPr>
        <p:spPr>
          <a:xfrm>
            <a:off x="8667541" y="6480503"/>
            <a:ext cx="134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ToF</a:t>
            </a:r>
            <a:r>
              <a:rPr lang="en-US" dirty="0"/>
              <a:t> sensor</a:t>
            </a:r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49DEC78-2C7D-E526-442D-5AC3142F2D8D}"/>
              </a:ext>
            </a:extLst>
          </p:cNvPr>
          <p:cNvCxnSpPr>
            <a:cxnSpLocks/>
          </p:cNvCxnSpPr>
          <p:nvPr/>
        </p:nvCxnSpPr>
        <p:spPr>
          <a:xfrm flipH="1" flipV="1">
            <a:off x="9467672" y="4510113"/>
            <a:ext cx="672371" cy="2012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56676A9-66D9-62E3-03DA-4453D673603F}"/>
              </a:ext>
            </a:extLst>
          </p:cNvPr>
          <p:cNvSpPr txBox="1"/>
          <p:nvPr/>
        </p:nvSpPr>
        <p:spPr>
          <a:xfrm>
            <a:off x="9839026" y="6475494"/>
            <a:ext cx="134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audio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1944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0872BC-1403-A216-D1AF-E2562A9CA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452" y="277585"/>
            <a:ext cx="6214828" cy="518432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4678714-AF71-B6C2-8818-1DEF0AABF696}"/>
              </a:ext>
            </a:extLst>
          </p:cNvPr>
          <p:cNvCxnSpPr>
            <a:cxnSpLocks/>
          </p:cNvCxnSpPr>
          <p:nvPr/>
        </p:nvCxnSpPr>
        <p:spPr>
          <a:xfrm flipH="1" flipV="1">
            <a:off x="6094412" y="3571220"/>
            <a:ext cx="672371" cy="2012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1E2308-C43B-D3AC-F640-075571D96844}"/>
              </a:ext>
            </a:extLst>
          </p:cNvPr>
          <p:cNvSpPr txBox="1"/>
          <p:nvPr/>
        </p:nvSpPr>
        <p:spPr>
          <a:xfrm>
            <a:off x="6604907" y="5628305"/>
            <a:ext cx="1885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Body Temp sensor(in contact with skin)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8285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33AB7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2C2A"/>
                </a:solidFill>
                <a:latin typeface="Calibri"/>
              </a:rPr>
              <a:t>Step-by-step obstacle response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201168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2011680" cy="457200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737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C2C2A"/>
                </a:solidFill>
                <a:latin typeface="Calibri"/>
              </a:rPr>
              <a:t>Skin temp check
3 buzz startup
All sensors </a:t>
            </a:r>
            <a:r>
              <a:rPr sz="1100" b="0" i="0" dirty="0" err="1">
                <a:solidFill>
                  <a:srgbClr val="2C2C2A"/>
                </a:solidFill>
                <a:latin typeface="Calibri"/>
              </a:rPr>
              <a:t>init</a:t>
            </a:r>
            <a:endParaRPr sz="1100" b="0" i="0" dirty="0">
              <a:solidFill>
                <a:srgbClr val="2C2C2A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41448" y="329184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78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463040"/>
            <a:ext cx="2011680" cy="4297680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51760" y="1463040"/>
            <a:ext cx="2011680" cy="45720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61488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ToF Fires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103120"/>
            <a:ext cx="1737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A"/>
                </a:solidFill>
                <a:latin typeface="Calibri"/>
              </a:rPr>
              <a:t>Laser pulse sent
Distance measured
50 times/sec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329184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78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1463040"/>
            <a:ext cx="2011680" cy="4297680"/>
          </a:xfrm>
          <a:prstGeom prst="rect">
            <a:avLst/>
          </a:prstGeom>
          <a:solidFill>
            <a:srgbClr val="FAEEDA"/>
          </a:solidFill>
          <a:ln w="6350">
            <a:solidFill>
              <a:srgbClr val="FAC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92040" y="1463040"/>
            <a:ext cx="2011680" cy="45720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01768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IMU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103120"/>
            <a:ext cx="1737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A"/>
                </a:solidFill>
                <a:latin typeface="Calibri"/>
              </a:rPr>
              <a:t>Wrist angle verified
Ignore if pointing
at floor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329184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78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463040"/>
            <a:ext cx="2011680" cy="4297680"/>
          </a:xfrm>
          <a:prstGeom prst="rect">
            <a:avLst/>
          </a:prstGeom>
          <a:solidFill>
            <a:srgbClr val="FCEBEB"/>
          </a:solidFill>
          <a:ln w="6350">
            <a:solidFill>
              <a:srgbClr val="F7C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0" y="1463040"/>
            <a:ext cx="2011680" cy="45720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42048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Alert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103120"/>
            <a:ext cx="1737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A"/>
                </a:solidFill>
                <a:latin typeface="Calibri"/>
              </a:rPr>
              <a:t>&lt;50cm strong buzz
&lt;100cm double pulse
&lt;150cm slow pulse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29184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78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1463040"/>
            <a:ext cx="2011680" cy="4297680"/>
          </a:xfrm>
          <a:prstGeom prst="rect">
            <a:avLst/>
          </a:prstGeom>
          <a:solidFill>
            <a:srgbClr val="EEEDFE"/>
          </a:solidFill>
          <a:ln w="6350">
            <a:solidFill>
              <a:srgbClr val="CEC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72600" y="1463040"/>
            <a:ext cx="2011680" cy="457200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82328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103120"/>
            <a:ext cx="1737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A"/>
                </a:solidFill>
                <a:latin typeface="Calibri"/>
              </a:rPr>
              <a:t>Haptic motors fire
Audio: Move right
Left/right motors differ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17352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780"/>
                </a:solidFill>
                <a:latin typeface="Calibri"/>
              </a:rPr>
              <a:t>SLIDE 5 /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99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93556"/>
                </a:solidFill>
                <a:latin typeface="Calibri"/>
              </a:rPr>
              <a:t>FEEDBACK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2C2A"/>
                </a:solidFill>
                <a:latin typeface="Calibri"/>
              </a:rPr>
              <a:t>Haptic grammar  +  pre-loaded audio cues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780"/>
                </a:solidFill>
                <a:latin typeface="Calibri"/>
              </a:rPr>
              <a:t>VIBRATION PATTERNS — DRV2605L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55648"/>
            <a:ext cx="5394960" cy="77724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5681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780"/>
                </a:solidFill>
                <a:latin typeface="Calibri"/>
              </a:rPr>
              <a:t>&gt; 150 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1" y="195681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A"/>
                </a:solidFill>
                <a:latin typeface="Calibri"/>
              </a:rPr>
              <a:t>No vibration — clear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761488"/>
            <a:ext cx="5394960" cy="777240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6265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6D11"/>
                </a:solidFill>
                <a:latin typeface="Calibri"/>
              </a:rPr>
              <a:t>80–150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29626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A"/>
                </a:solidFill>
                <a:latin typeface="Calibri"/>
              </a:rPr>
              <a:t>Slow single pulse — caution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767328"/>
            <a:ext cx="5394960" cy="77724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96849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4F0B"/>
                </a:solidFill>
                <a:latin typeface="Calibri"/>
              </a:rPr>
              <a:t>30–80 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396849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A"/>
                </a:solidFill>
                <a:latin typeface="Calibri"/>
              </a:rPr>
              <a:t>Fast double pulse — slow down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773168"/>
            <a:ext cx="5394960" cy="777240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97433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2D2D"/>
                </a:solidFill>
                <a:latin typeface="Calibri"/>
              </a:rPr>
              <a:t>&lt; 30 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1" y="497433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A"/>
                </a:solidFill>
                <a:latin typeface="Calibri"/>
              </a:rPr>
              <a:t>Strong continuous buzz —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3898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780"/>
                </a:solidFill>
                <a:latin typeface="Calibri"/>
              </a:rPr>
              <a:t>AUDIO CUES — MAX98357 + SPEAKER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1755648"/>
            <a:ext cx="5303520" cy="1143000"/>
          </a:xfrm>
          <a:prstGeom prst="rect">
            <a:avLst/>
          </a:prstGeom>
          <a:solidFill>
            <a:srgbClr val="EE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48272" y="18470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3AB7"/>
                </a:solidFill>
                <a:latin typeface="Calibri"/>
              </a:rPr>
              <a:t>left.wav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2157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C3489"/>
                </a:solidFill>
                <a:latin typeface="Calibri"/>
              </a:rPr>
              <a:t>"Turn Left"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250545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780"/>
                </a:solidFill>
                <a:latin typeface="Calibri"/>
              </a:rPr>
              <a:t>Obstacle detected on the right side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127248"/>
            <a:ext cx="5303520" cy="1143000"/>
          </a:xfrm>
          <a:prstGeom prst="rect">
            <a:avLst/>
          </a:prstGeom>
          <a:solidFill>
            <a:srgbClr val="EE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48272" y="32186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3AB7"/>
                </a:solidFill>
                <a:latin typeface="Calibri"/>
              </a:rPr>
              <a:t>right.wav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5295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C3489"/>
                </a:solidFill>
                <a:latin typeface="Calibri"/>
              </a:rPr>
              <a:t>"Turn Right"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387705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780"/>
                </a:solidFill>
                <a:latin typeface="Calibri"/>
              </a:rPr>
              <a:t>Obstacle detected on the left side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4498848"/>
            <a:ext cx="5303520" cy="1143000"/>
          </a:xfrm>
          <a:prstGeom prst="rect">
            <a:avLst/>
          </a:prstGeom>
          <a:solidFill>
            <a:srgbClr val="EE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48272" y="45902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3AB7"/>
                </a:solidFill>
                <a:latin typeface="Calibri"/>
              </a:rPr>
              <a:t>stop.wav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49011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C3489"/>
                </a:solidFill>
                <a:latin typeface="Calibri"/>
              </a:rPr>
              <a:t>"Stop!"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524865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780"/>
                </a:solidFill>
                <a:latin typeface="Calibri"/>
              </a:rPr>
              <a:t>Obstacle closer than 30 cm — halt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978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780"/>
                </a:solidFill>
                <a:latin typeface="Calibri"/>
              </a:rPr>
              <a:t>All clips stored in ESP32-S3 flash memory  ·  ~20 KB each  ·  fully offline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17352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780"/>
                </a:solidFill>
                <a:latin typeface="Calibri"/>
              </a:rPr>
              <a:t>SLIDE 7 /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F9F27"/>
                </a:solidFill>
                <a:latin typeface="Calibri"/>
              </a:rPr>
              <a:t>POWER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USB-C charging  ·  single clean 3.3V 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120640" cy="749808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09728" cy="749808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179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9F27"/>
                </a:solidFill>
                <a:latin typeface="Calibr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USB-C — 5V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DCAA5"/>
                </a:solidFill>
                <a:latin typeface="Calibr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5120640" cy="749808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09728" cy="749808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6151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CAA5"/>
                </a:solidFill>
                <a:latin typeface="Calibri"/>
              </a:rPr>
              <a:t>CHARGER 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9503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MCP73831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337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DCAA5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120640" cy="749808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109728" cy="749808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71246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CAA5"/>
                </a:solidFill>
                <a:latin typeface="Calibri"/>
              </a:rP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8678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LiPo 400mAh  (3.7V nominal)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434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DCAA5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54879"/>
            <a:ext cx="5120640" cy="749808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754879"/>
            <a:ext cx="109728" cy="749808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80974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FA9EC"/>
                </a:solidFill>
                <a:latin typeface="Calibri"/>
              </a:rPr>
              <a:t>REGULATOR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08406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XC6206 LDO  →  3.3V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852160"/>
            <a:ext cx="5120640" cy="50292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90702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1F5EE"/>
                </a:solidFill>
                <a:latin typeface="Calibri"/>
              </a:rPr>
              <a:t>3.3V Rail  →  ESP32-S3  ·  All 4 Sensors  ·  DRV2605L  ·  MAX98357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3865" y="16322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88780"/>
                </a:solidFill>
                <a:latin typeface="Calibri"/>
              </a:rPr>
              <a:t>Skin temp drops → device removed → full system enters deep sleep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17352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44441"/>
                </a:solidFill>
                <a:latin typeface="Calibri"/>
              </a:rPr>
              <a:t>SLIDE 6 / 8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C873C01-F381-0940-1900-707F63CFF6B9}"/>
              </a:ext>
            </a:extLst>
          </p:cNvPr>
          <p:cNvSpPr/>
          <p:nvPr/>
        </p:nvSpPr>
        <p:spPr>
          <a:xfrm>
            <a:off x="6336666" y="1463040"/>
            <a:ext cx="5120640" cy="749808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>
                <a:solidFill>
                  <a:schemeClr val="bg1"/>
                </a:solidFill>
              </a:rPr>
              <a:t>Skin temp drops → device removed → full system enters deep sleep</a:t>
            </a:r>
          </a:p>
          <a:p>
            <a:pPr algn="ctr"/>
            <a:endParaRPr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DCAA5"/>
                </a:solidFill>
                <a:latin typeface="Calibri"/>
              </a:rPr>
              <a:t>KICAD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we design and submit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19072"/>
            <a:ext cx="5669280" cy="914400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56231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9F27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922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1945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FE1CB"/>
                </a:solidFill>
                <a:latin typeface="Calibri"/>
              </a:rPr>
              <a:t>USB-C, MCP73831, XC6206 LDO, LiPo connector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16352"/>
            <a:ext cx="5669280" cy="914400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95351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9F27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2918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FE1CB"/>
                </a:solidFill>
                <a:latin typeface="Calibri"/>
              </a:rPr>
              <a:t>ESP32-S3 module, all pin labels, decoupling caps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13631"/>
            <a:ext cx="5669280" cy="914400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050791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9F27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98678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8911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FE1CB"/>
                </a:solidFill>
                <a:latin typeface="Calibri"/>
              </a:rPr>
              <a:t>All 4 sensor ICs, I2C bus, 4.7kΩ pull-up resistors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010912"/>
            <a:ext cx="5669280" cy="914400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14807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9F27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0840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4864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FE1CB"/>
                </a:solidFill>
                <a:latin typeface="Calibri"/>
              </a:rPr>
              <a:t>DRV2605L haptic driver, MAX98357 amp, connectors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389888"/>
            <a:ext cx="5303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888780"/>
                </a:solidFill>
                <a:latin typeface="Calibri"/>
              </a:rPr>
              <a:t>PCB LAYOUT  —  2 LAYER  ·  </a:t>
            </a:r>
            <a:r>
              <a:rPr lang="en-US" sz="800" dirty="0">
                <a:solidFill>
                  <a:srgbClr val="888780"/>
                </a:solidFill>
                <a:latin typeface="Calibri"/>
              </a:rPr>
              <a:t>40x36 </a:t>
            </a:r>
            <a:r>
              <a:rPr sz="800" b="0" i="0" dirty="0">
                <a:solidFill>
                  <a:srgbClr val="888780"/>
                </a:solidFill>
                <a:latin typeface="Calibri"/>
              </a:rPr>
              <a:t>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1719072"/>
            <a:ext cx="5394960" cy="914400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601968" y="2011679"/>
            <a:ext cx="201168" cy="201168"/>
          </a:xfrm>
          <a:prstGeom prst="ellipse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0" y="18105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DCAA5"/>
                </a:solidFill>
                <a:latin typeface="Calibri"/>
              </a:rPr>
              <a:t>Ground plane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2128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780"/>
                </a:solidFill>
                <a:latin typeface="Calibri"/>
              </a:rPr>
              <a:t>Full bottom copper pour, all GND nets connected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913631"/>
            <a:ext cx="5394960" cy="914400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601968" y="4206240"/>
            <a:ext cx="201168" cy="201168"/>
          </a:xfrm>
          <a:prstGeom prst="ellipse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49440" y="400507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AFA9EC"/>
                </a:solidFill>
                <a:latin typeface="Calibri"/>
              </a:rPr>
              <a:t>DRC clean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407407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88780"/>
                </a:solidFill>
                <a:latin typeface="Calibri"/>
              </a:rPr>
              <a:t>Zero errors  ·  3D view generated  ·  Gerbers exported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5010912"/>
            <a:ext cx="5394960" cy="914400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601968" y="5303520"/>
            <a:ext cx="201168" cy="201168"/>
          </a:xfrm>
          <a:prstGeom prst="ellipse">
            <a:avLst/>
          </a:prstGeom>
          <a:solidFill>
            <a:srgbClr val="F0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49440" y="510235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9595"/>
                </a:solidFill>
                <a:latin typeface="Calibri"/>
              </a:rPr>
              <a:t>Bill of Materials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5046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780"/>
                </a:solidFill>
                <a:latin typeface="Calibri"/>
              </a:rPr>
              <a:t>Part numbers, package sizes, footprints all listed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199632"/>
            <a:ext cx="11457432" cy="384048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6217920"/>
            <a:ext cx="8988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1F5EE"/>
                </a:solidFill>
                <a:latin typeface="Calibri"/>
              </a:rPr>
              <a:t>Self-contained  ·  No app  ·  No GPS  ·  Fully demonstrable in classroom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5752" y="62179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FE1CB"/>
                </a:solidFill>
                <a:latin typeface="Calibri"/>
              </a:rPr>
              <a:t>VLS 603 · Navigator Band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17352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44441"/>
                </a:solidFill>
                <a:latin typeface="Calibri"/>
              </a:rPr>
              <a:t>SLIDE 8 / 8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F18FE6-A129-6FAE-B07E-EC08B2363D40}"/>
              </a:ext>
            </a:extLst>
          </p:cNvPr>
          <p:cNvSpPr/>
          <p:nvPr/>
        </p:nvSpPr>
        <p:spPr>
          <a:xfrm>
            <a:off x="6428105" y="2834640"/>
            <a:ext cx="5394960" cy="914400"/>
          </a:xfrm>
          <a:prstGeom prst="rect">
            <a:avLst/>
          </a:prstGeom>
          <a:solidFill>
            <a:srgbClr val="1C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281E72-A654-F300-6CFD-E09F15305219}"/>
              </a:ext>
            </a:extLst>
          </p:cNvPr>
          <p:cNvSpPr txBox="1"/>
          <p:nvPr/>
        </p:nvSpPr>
        <p:spPr>
          <a:xfrm>
            <a:off x="6949440" y="2926079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rgbClr val="AFA9EC"/>
                </a:solidFill>
                <a:latin typeface="Calibri"/>
              </a:rPr>
              <a:t>E</a:t>
            </a:r>
            <a:r>
              <a:rPr sz="1200" b="1" i="0" dirty="0">
                <a:solidFill>
                  <a:srgbClr val="AFA9EC"/>
                </a:solidFill>
                <a:latin typeface="Calibri"/>
              </a:rPr>
              <a:t>RC clean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492B87A-AE00-7993-D41E-AEE2DB5A044A}"/>
              </a:ext>
            </a:extLst>
          </p:cNvPr>
          <p:cNvSpPr/>
          <p:nvPr/>
        </p:nvSpPr>
        <p:spPr>
          <a:xfrm>
            <a:off x="6601968" y="3227832"/>
            <a:ext cx="201168" cy="201168"/>
          </a:xfrm>
          <a:prstGeom prst="ellipse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712F2C-685F-BFE0-E66A-FEDB8F3337D2}"/>
              </a:ext>
            </a:extLst>
          </p:cNvPr>
          <p:cNvSpPr txBox="1"/>
          <p:nvPr/>
        </p:nvSpPr>
        <p:spPr>
          <a:xfrm>
            <a:off x="6949440" y="3401567"/>
            <a:ext cx="4754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88780"/>
                </a:solidFill>
                <a:latin typeface="Calibri"/>
              </a:rPr>
              <a:t>Zero errors  ·  </a:t>
            </a:r>
            <a:r>
              <a:rPr lang="en-US" sz="1000" dirty="0">
                <a:solidFill>
                  <a:srgbClr val="888780"/>
                </a:solidFill>
                <a:latin typeface="Calibri"/>
              </a:rPr>
              <a:t>Zero Warnings</a:t>
            </a:r>
            <a:endParaRPr sz="1000" b="0" i="0" dirty="0">
              <a:solidFill>
                <a:srgbClr val="88878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684</Words>
  <Application>Microsoft Office PowerPoint</Application>
  <PresentationFormat>Custom</PresentationFormat>
  <Paragraphs>166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swayam</dc:creator>
  <cp:keywords/>
  <dc:description>generated using python-pptx</dc:description>
  <cp:lastModifiedBy>IMT2023615 Swayam Vishal Kotecha</cp:lastModifiedBy>
  <cp:revision>6</cp:revision>
  <dcterms:created xsi:type="dcterms:W3CDTF">2013-01-27T09:14:16Z</dcterms:created>
  <dcterms:modified xsi:type="dcterms:W3CDTF">2026-04-28T15:39:16Z</dcterms:modified>
  <cp:category/>
</cp:coreProperties>
</file>